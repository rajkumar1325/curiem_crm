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1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71" r:id="rId8"/>
    <p:sldId id="262" r:id="rId9"/>
    <p:sldId id="263" r:id="rId10"/>
    <p:sldId id="270" r:id="rId11"/>
    <p:sldId id="264" r:id="rId12"/>
    <p:sldId id="265" r:id="rId13"/>
    <p:sldId id="266" r:id="rId14"/>
    <p:sldId id="267" r:id="rId15"/>
    <p:sldId id="268" r:id="rId16"/>
    <p:sldId id="269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418"/>
    <p:restoredTop sz="94610"/>
  </p:normalViewPr>
  <p:slideViewPr>
    <p:cSldViewPr snapToGrid="0" snapToObjects="1">
      <p:cViewPr varScale="1">
        <p:scale>
          <a:sx n="194" d="100"/>
          <a:sy n="194" d="100"/>
        </p:scale>
        <p:origin x="59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Survey Results</c:v>
                </c:pt>
              </c:strCache>
            </c:strRef>
          </c:tx>
          <c:spPr>
            <a:solidFill>
              <a:srgbClr val="F5A623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779D-F243-BDD4-547E93F7D315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779D-F243-BDD4-547E93F7D315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779D-F243-BDD4-547E93F7D315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Client Satisfaction</c:v>
                </c:pt>
                <c:pt idx="1">
                  <c:v>Streamlined Processes</c:v>
                </c:pt>
                <c:pt idx="2">
                  <c:v>Cost Challenge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85</c:v>
                </c:pt>
                <c:pt idx="1">
                  <c:v>80</c:v>
                </c:pt>
                <c:pt idx="2">
                  <c:v>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779D-F243-BDD4-547E93F7D31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E0E0E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6A6A6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E0E0E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5A5A5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31547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E18183-C0A4-CC42-EC63-49F8F7CE75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219C0C-FEA3-6588-C193-546291E6C5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7DEFD5-3CF4-9258-4EB6-A2287BF8DC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0EE241-D6E9-3C11-3F62-3E389A72FF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1267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BFED8E-8720-11E3-C1CA-B012CFD12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C163C8-FF9D-585B-7AB3-CFC8AB3AEF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94C79F-90C5-BA74-F3F9-33347F979A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12CE02-4981-FF3F-B7C6-27B2342AAF1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6968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A3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WEB APPLICATION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Spring Boot + MySQL  |  FULL STACK JAVA REACT APPLICATION 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0" y="1874520"/>
            <a:ext cx="2743200" cy="274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1031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by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ANSHIKA AGGARWAL (2204920100024)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RAJ KUMAR (2204920100118)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063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Ms. Vibha |  Dept. of CSE, KCC Institute of Technology &amp; Management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4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28600" y="822960"/>
            <a:ext cx="4251960" cy="804672"/>
          </a:xfrm>
          <a:prstGeom prst="rect">
            <a:avLst/>
          </a:prstGeom>
          <a:solidFill>
            <a:srgbClr val="5A5A5A"/>
          </a:solidFill>
          <a:ln w="12700">
            <a:solidFill>
              <a:srgbClr val="6A6A6A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914400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68680" y="877824"/>
            <a:ext cx="3474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1207008"/>
            <a:ext cx="3474720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new CRM was needed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8600" y="1792224"/>
            <a:ext cx="4251960" cy="804672"/>
          </a:xfrm>
          <a:prstGeom prst="rect">
            <a:avLst/>
          </a:prstGeom>
          <a:solidFill>
            <a:srgbClr val="5A5A5A"/>
          </a:solidFill>
          <a:ln w="12700">
            <a:solidFill>
              <a:srgbClr val="6A6A6A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" y="1883664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68680" y="1847088"/>
            <a:ext cx="3474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8680" y="2176272"/>
            <a:ext cx="3474720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CURIEM – what &amp; who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28600" y="2761488"/>
            <a:ext cx="4251960" cy="804672"/>
          </a:xfrm>
          <a:prstGeom prst="rect">
            <a:avLst/>
          </a:prstGeom>
          <a:solidFill>
            <a:srgbClr val="5A5A5A"/>
          </a:solidFill>
          <a:ln w="12700">
            <a:solidFill>
              <a:srgbClr val="6A6A6A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0040" y="2852928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68680" y="2816352"/>
            <a:ext cx="3474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68680" y="3145536"/>
            <a:ext cx="3474720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 &amp; design decisions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8600" y="3730752"/>
            <a:ext cx="4251960" cy="804672"/>
          </a:xfrm>
          <a:prstGeom prst="rect">
            <a:avLst/>
          </a:prstGeom>
          <a:solidFill>
            <a:srgbClr val="5A5A5A"/>
          </a:solidFill>
          <a:ln w="12700">
            <a:solidFill>
              <a:srgbClr val="6A6A6A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20040" y="3822192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68680" y="3785616"/>
            <a:ext cx="3474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Modules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68680" y="4114800"/>
            <a:ext cx="3474720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built &amp; demonstrated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09160" y="822960"/>
            <a:ext cx="4251960" cy="804672"/>
          </a:xfrm>
          <a:prstGeom prst="rect">
            <a:avLst/>
          </a:prstGeom>
          <a:solidFill>
            <a:srgbClr val="5A5A5A"/>
          </a:solidFill>
          <a:ln w="12700">
            <a:solidFill>
              <a:srgbClr val="6A6A6A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00600" y="914400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349240" y="877824"/>
            <a:ext cx="3474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49240" y="1207008"/>
            <a:ext cx="3474720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EER schema &amp; relationships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09160" y="1792224"/>
            <a:ext cx="4251960" cy="804672"/>
          </a:xfrm>
          <a:prstGeom prst="rect">
            <a:avLst/>
          </a:prstGeom>
          <a:solidFill>
            <a:srgbClr val="5A5A5A"/>
          </a:solidFill>
          <a:ln w="12700">
            <a:solidFill>
              <a:srgbClr val="6A6A6A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00600" y="1883664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349240" y="1847088"/>
            <a:ext cx="3474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UML Diagrams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349240" y="2176272"/>
            <a:ext cx="3474720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Case, Activity, Sequence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09160" y="2761488"/>
            <a:ext cx="4251960" cy="804672"/>
          </a:xfrm>
          <a:prstGeom prst="rect">
            <a:avLst/>
          </a:prstGeom>
          <a:solidFill>
            <a:srgbClr val="5A5A5A"/>
          </a:solidFill>
          <a:ln w="12700">
            <a:solidFill>
              <a:srgbClr val="6A6A6A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800600" y="2852928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5349240" y="2816352"/>
            <a:ext cx="3474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Survey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349240" y="3145536"/>
            <a:ext cx="3474720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&amp; deliverables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09160" y="3730752"/>
            <a:ext cx="4251960" cy="804672"/>
          </a:xfrm>
          <a:prstGeom prst="rect">
            <a:avLst/>
          </a:prstGeom>
          <a:solidFill>
            <a:srgbClr val="5A5A5A"/>
          </a:solidFill>
          <a:ln w="12700">
            <a:solidFill>
              <a:srgbClr val="6A6A6A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800600" y="3822192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5349240" y="3785616"/>
            <a:ext cx="3474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Scope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349240" y="4114800"/>
            <a:ext cx="3474720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Learnings and what’s next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4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28600" y="822960"/>
            <a:ext cx="4251960" cy="1133856"/>
          </a:xfrm>
          <a:prstGeom prst="rect">
            <a:avLst/>
          </a:prstGeom>
          <a:solidFill>
            <a:srgbClr val="5A5A5A"/>
          </a:solidFill>
          <a:ln w="12700">
            <a:solidFill>
              <a:srgbClr val="6A6A6A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93192" y="89611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Tools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93192" y="1207008"/>
            <a:ext cx="39136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used separate CRM, project mgmt, communication &amp; task apps — causing duplicated data &amp; delays.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09160" y="822960"/>
            <a:ext cx="4251960" cy="1133856"/>
          </a:xfrm>
          <a:prstGeom prst="rect">
            <a:avLst/>
          </a:prstGeom>
          <a:solidFill>
            <a:srgbClr val="5A5A5A"/>
          </a:solidFill>
          <a:ln w="12700">
            <a:solidFill>
              <a:srgbClr val="6A6A6A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73752" y="89611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Client–Project Linking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73752" y="1207008"/>
            <a:ext cx="39136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clear mapping between clients, projects, tasks &amp; team members in a single system.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8600" y="2121408"/>
            <a:ext cx="4251960" cy="1133856"/>
          </a:xfrm>
          <a:prstGeom prst="rect">
            <a:avLst/>
          </a:prstGeom>
          <a:solidFill>
            <a:srgbClr val="5A5A5A"/>
          </a:solidFill>
          <a:ln w="12700">
            <a:solidFill>
              <a:srgbClr val="6A6A6A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93192" y="219456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Access Control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93192" y="2505456"/>
            <a:ext cx="39136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proper role-based access for Admins, Managers &amp; Employees across modules.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09160" y="2121408"/>
            <a:ext cx="4251960" cy="1133856"/>
          </a:xfrm>
          <a:prstGeom prst="rect">
            <a:avLst/>
          </a:prstGeom>
          <a:solidFill>
            <a:srgbClr val="5A5A5A"/>
          </a:solidFill>
          <a:ln w="12700">
            <a:solidFill>
              <a:srgbClr val="6A6A6A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73752" y="219456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Event Management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73752" y="2505456"/>
            <a:ext cx="39136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Meetings &amp; deadlines tracked on separate tools (Google Calendar, Excel, WhatsApp).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8600" y="3419856"/>
            <a:ext cx="4251960" cy="1133856"/>
          </a:xfrm>
          <a:prstGeom prst="rect">
            <a:avLst/>
          </a:prstGeom>
          <a:solidFill>
            <a:srgbClr val="5A5A5A"/>
          </a:solidFill>
          <a:ln w="12700">
            <a:solidFill>
              <a:srgbClr val="6A6A6A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93192" y="349300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Unified Analytics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93192" y="3803904"/>
            <a:ext cx="39136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real-time dashboards combining customer data with task &amp; project performance.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09160" y="3419856"/>
            <a:ext cx="4251960" cy="1133856"/>
          </a:xfrm>
          <a:prstGeom prst="rect">
            <a:avLst/>
          </a:prstGeom>
          <a:solidFill>
            <a:srgbClr val="5A5A5A"/>
          </a:solidFill>
          <a:ln w="12700">
            <a:solidFill>
              <a:srgbClr val="6A6A6A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73752" y="349300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Password Recovery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73752" y="3803904"/>
            <a:ext cx="39136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secure OTP-based account recovery in affordable CRM solutions for SMEs.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4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804672"/>
            <a:ext cx="7863840" cy="3703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authentication and role-based access control (JWT + RBAC) with Admin, Manager, and Employee roles.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&amp; Lead management with advanced filtering, search, pagination, and status tracking.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via dashboard APIs: conversion rate, pipeline value, revenue trends, and activity logs.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and task management — linking clients, projects, tasks, and team members in one unified platform.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OTP-based secure password recovery for account safety in SME-grade deployments.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event calendar for meetings and deadlines, integrated with team roles.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4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3931920" cy="3703320"/>
          </a:xfrm>
          <a:prstGeom prst="rect">
            <a:avLst/>
          </a:prstGeom>
          <a:solidFill>
            <a:srgbClr val="5A5A5A"/>
          </a:solidFill>
          <a:ln w="12700">
            <a:solidFill>
              <a:srgbClr val="6A6A6A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89611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— Core Features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&amp; Authorization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Management (CRUD)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Management &amp; Pipeline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&amp; Analytics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Tickets Module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46320" y="804672"/>
            <a:ext cx="3931920" cy="3703320"/>
          </a:xfrm>
          <a:prstGeom prst="rect">
            <a:avLst/>
          </a:prstGeom>
          <a:solidFill>
            <a:srgbClr val="5A5A5A"/>
          </a:solidFill>
          <a:ln w="12700">
            <a:solidFill>
              <a:srgbClr val="6A6A6A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0" y="89611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— Future Enhancements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0" y="132588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Activities: calls / emails / meetings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&amp; SMS notifications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reports &amp; exports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Multi-tenancy architecture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lead scoring &amp; forecasting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(React Native / Flutter)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4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28600" y="822960"/>
            <a:ext cx="4251960" cy="1188720"/>
          </a:xfrm>
          <a:prstGeom prst="rect">
            <a:avLst/>
          </a:prstGeom>
          <a:solidFill>
            <a:srgbClr val="5A5A5A"/>
          </a:solidFill>
          <a:ln w="12700">
            <a:solidFill>
              <a:srgbClr val="6A6A6A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93192" y="914400"/>
            <a:ext cx="3922776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93192" y="1261872"/>
            <a:ext cx="39227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ReactJS · Redux · Bootstrap · Recharts · Axios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09160" y="822960"/>
            <a:ext cx="4251960" cy="1188720"/>
          </a:xfrm>
          <a:prstGeom prst="rect">
            <a:avLst/>
          </a:prstGeom>
          <a:solidFill>
            <a:srgbClr val="5A5A5A"/>
          </a:solidFill>
          <a:ln w="12700">
            <a:solidFill>
              <a:srgbClr val="6A6A6A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73752" y="914400"/>
            <a:ext cx="3922776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73752" y="1261872"/>
            <a:ext cx="39227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· REST APIs · Spring Security · JPA/Hibernate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28600" y="2304288"/>
            <a:ext cx="4251960" cy="1188720"/>
          </a:xfrm>
          <a:prstGeom prst="rect">
            <a:avLst/>
          </a:prstGeom>
          <a:solidFill>
            <a:srgbClr val="5A5A5A"/>
          </a:solidFill>
          <a:ln w="12700">
            <a:solidFill>
              <a:srgbClr val="6A6A6A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93192" y="2395728"/>
            <a:ext cx="3922776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93192" y="2743200"/>
            <a:ext cx="39227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— relational schema with FK constraints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09160" y="2304288"/>
            <a:ext cx="4251960" cy="1188720"/>
          </a:xfrm>
          <a:prstGeom prst="rect">
            <a:avLst/>
          </a:prstGeom>
          <a:solidFill>
            <a:srgbClr val="5A5A5A"/>
          </a:solidFill>
          <a:ln w="12700">
            <a:solidFill>
              <a:srgbClr val="6A6A6A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73752" y="2395728"/>
            <a:ext cx="3922776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73752" y="2743200"/>
            <a:ext cx="39227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 · RBAC (Admin / Manager / Employee)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468880" y="3785616"/>
            <a:ext cx="4206240" cy="1188720"/>
          </a:xfrm>
          <a:prstGeom prst="rect">
            <a:avLst/>
          </a:prstGeom>
          <a:solidFill>
            <a:srgbClr val="5A5A5A"/>
          </a:solidFill>
          <a:ln w="12700">
            <a:solidFill>
              <a:srgbClr val="6A6A6A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633472" y="3877056"/>
            <a:ext cx="3877056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Tools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633472" y="4224528"/>
            <a:ext cx="387705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 · Git/GitHub · VS Code · IntelliJ IDEA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A4A4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1DF89C-113A-5278-024B-E359D5435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C042533-033C-97F3-7C2A-26C97EFA84FA}"/>
              </a:ext>
            </a:extLst>
          </p:cNvPr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CD66FF6-176A-EF87-CE84-555D42CBCF76}"/>
              </a:ext>
            </a:extLst>
          </p:cNvPr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32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D5AAACA8-CAB9-B256-6806-A72E0C20AF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9349" y="667512"/>
            <a:ext cx="6236339" cy="4157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99554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4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MODULES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82880" y="822960"/>
            <a:ext cx="2834640" cy="1627632"/>
          </a:xfrm>
          <a:prstGeom prst="rect">
            <a:avLst/>
          </a:prstGeom>
          <a:solidFill>
            <a:srgbClr val="5A5A5A"/>
          </a:solidFill>
          <a:ln w="12700">
            <a:solidFill>
              <a:srgbClr val="6A6A6A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914400"/>
            <a:ext cx="257860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Dashboard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0040" y="1280160"/>
            <a:ext cx="257860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summaries · Earnings widget · Sales chart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 meetings · Top performers · Tasks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172968" y="822960"/>
            <a:ext cx="2834640" cy="1627632"/>
          </a:xfrm>
          <a:prstGeom prst="rect">
            <a:avLst/>
          </a:prstGeom>
          <a:solidFill>
            <a:srgbClr val="5A5A5A"/>
          </a:solidFill>
          <a:ln w="12700">
            <a:solidFill>
              <a:srgbClr val="6A6A6A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10128" y="914400"/>
            <a:ext cx="257860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Pipeline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310128" y="1280160"/>
            <a:ext cx="257860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Kanban pipeline (New → Contacted → Qualified → Converted → Lost)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distribution · Conversion analytics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63056" y="822960"/>
            <a:ext cx="2834640" cy="1627632"/>
          </a:xfrm>
          <a:prstGeom prst="rect">
            <a:avLst/>
          </a:prstGeom>
          <a:solidFill>
            <a:srgbClr val="5A5A5A"/>
          </a:solidFill>
          <a:ln w="12700">
            <a:solidFill>
              <a:srgbClr val="6A6A6A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00216" y="914400"/>
            <a:ext cx="257860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Management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300216" y="1280160"/>
            <a:ext cx="257860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card grid · Active/Closed status · Revenue per customer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details · Product subscriptions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82880" y="2651760"/>
            <a:ext cx="2834640" cy="1627632"/>
          </a:xfrm>
          <a:prstGeom prst="rect">
            <a:avLst/>
          </a:prstGeom>
          <a:solidFill>
            <a:srgbClr val="5A5A5A"/>
          </a:solidFill>
          <a:ln w="12700">
            <a:solidFill>
              <a:srgbClr val="6A6A6A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20040" y="2743200"/>
            <a:ext cx="257860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Tickets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0040" y="3108960"/>
            <a:ext cx="257860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filter (High / Medium / Low)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/ In-Progress / Resolved status tracking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172968" y="2651760"/>
            <a:ext cx="2834640" cy="1627632"/>
          </a:xfrm>
          <a:prstGeom prst="rect">
            <a:avLst/>
          </a:prstGeom>
          <a:solidFill>
            <a:srgbClr val="5A5A5A"/>
          </a:solidFill>
          <a:ln w="12700">
            <a:solidFill>
              <a:srgbClr val="6A6A6A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310128" y="2743200"/>
            <a:ext cx="257860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Deals &amp; Tasks Board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310128" y="3108960"/>
            <a:ext cx="257860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types: Follow-up · Call · Deal · Email · Support · Report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dates · Priority levels · Progress tracking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63056" y="2651760"/>
            <a:ext cx="2834640" cy="1627632"/>
          </a:xfrm>
          <a:prstGeom prst="rect">
            <a:avLst/>
          </a:prstGeom>
          <a:solidFill>
            <a:srgbClr val="5A5A5A"/>
          </a:solidFill>
          <a:ln w="12700">
            <a:solidFill>
              <a:srgbClr val="6A6A6A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300216" y="2743200"/>
            <a:ext cx="257860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&amp; Analytics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00216" y="3108960"/>
            <a:ext cx="257860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trends · Conversion rate · Lead sources donut chart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deal activity · Recent activity feed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4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804672"/>
            <a:ext cx="7863840" cy="3703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(JSON Web Token) Authentication — stateless, token-based sessions for all API requests.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recommended in production for encrypted communication between client and server.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authorization with three roles: Admin, Salesperson (Manager), and Customer (Employee).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 configuration — each endpoint protected by role permissions via @PreAuthorize.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OTP-based secure email verification for password recovery — no plain-text password resets.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password hashing — passwords are never stored in plain text in the MySQL database.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A4A4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008D6E-4623-58E7-C3AD-91996D2BA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6470AC3-BF56-0A73-CB34-7262372ADC3A}"/>
              </a:ext>
            </a:extLst>
          </p:cNvPr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6BC913F-258A-1D44-7490-08FFEFDE8FCC}"/>
              </a:ext>
            </a:extLst>
          </p:cNvPr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Frontend-Architecture</a:t>
            </a:r>
            <a:endParaRPr lang="en-US" sz="3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F0349CB-24EC-1C6D-1DE2-8211AB2A3B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0627" y="661670"/>
            <a:ext cx="6584633" cy="4389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93842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4A4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BEST PRACTICES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804672"/>
            <a:ext cx="7863840" cy="3703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RESTful design with API versioning (e.g., /api/v1/leads, /api/v1/customers).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Pagination &amp; filtering on all list endpoints — prevents performance bottlenecks on large datasets.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error handling — standard HTTP status codes with structured JSON error responses.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bearer token in Authorization header for all authenticated API requests.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configuration — allows React frontend (Vercel/Netlify) to safely communicate with backend (Render).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 collections maintained for API documentation and team collaboration during development.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4A4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DASHBOARD APIs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82880" y="804672"/>
            <a:ext cx="4297680" cy="822960"/>
          </a:xfrm>
          <a:prstGeom prst="rect">
            <a:avLst/>
          </a:prstGeom>
          <a:solidFill>
            <a:srgbClr val="5A5A5A"/>
          </a:solidFill>
          <a:ln w="12700">
            <a:solidFill>
              <a:srgbClr val="6A6A6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10896" y="859536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/api/v1/leads/overview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10896" y="118872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Aggregated metrics — total, active, converted counts, pipeline value, conversion rate.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663440" y="804672"/>
            <a:ext cx="4297680" cy="822960"/>
          </a:xfrm>
          <a:prstGeom prst="rect">
            <a:avLst/>
          </a:prstGeom>
          <a:solidFill>
            <a:srgbClr val="5A5A5A"/>
          </a:solidFill>
          <a:ln w="12700">
            <a:solidFill>
              <a:srgbClr val="6A6A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91456" y="859536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/api/v1/leads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91456" y="118872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Paginated lead details — supports filtering by status, source, owner, and date range.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82880" y="1737360"/>
            <a:ext cx="4297680" cy="822960"/>
          </a:xfrm>
          <a:prstGeom prst="rect">
            <a:avLst/>
          </a:prstGeom>
          <a:solidFill>
            <a:srgbClr val="5A5A5A"/>
          </a:solidFill>
          <a:ln w="12700">
            <a:solidFill>
              <a:srgbClr val="6A6A6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0896" y="1792224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/api/v1/leads/activities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10896" y="212140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feed / logs — lists all call, email, meeting interactions per lead.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63440" y="1737360"/>
            <a:ext cx="4297680" cy="822960"/>
          </a:xfrm>
          <a:prstGeom prst="rect">
            <a:avLst/>
          </a:prstGeom>
          <a:solidFill>
            <a:srgbClr val="5A5A5A"/>
          </a:solidFill>
          <a:ln w="12700">
            <a:solidFill>
              <a:srgbClr val="6A6A6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91456" y="1792224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/api/v1/auth/login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91456" y="212140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Authenticates user credentials and returns JWT token with role information.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82880" y="2670048"/>
            <a:ext cx="4297680" cy="822960"/>
          </a:xfrm>
          <a:prstGeom prst="rect">
            <a:avLst/>
          </a:prstGeom>
          <a:solidFill>
            <a:srgbClr val="5A5A5A"/>
          </a:solidFill>
          <a:ln w="12700">
            <a:solidFill>
              <a:srgbClr val="6A6A6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0896" y="272491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/api/v1/customers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10896" y="3054096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Paginated customer list — supports search by name, company, status (Active/Closed).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63440" y="2670048"/>
            <a:ext cx="4297680" cy="822960"/>
          </a:xfrm>
          <a:prstGeom prst="rect">
            <a:avLst/>
          </a:prstGeom>
          <a:solidFill>
            <a:srgbClr val="5A5A5A"/>
          </a:solidFill>
          <a:ln w="12700">
            <a:solidFill>
              <a:srgbClr val="6A6A6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91456" y="272491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/api/v1/customers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91456" y="3054096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new customer record with contact, company, and product subscription details.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82880" y="3602736"/>
            <a:ext cx="4297680" cy="822960"/>
          </a:xfrm>
          <a:prstGeom prst="rect">
            <a:avLst/>
          </a:prstGeom>
          <a:solidFill>
            <a:srgbClr val="5A5A5A"/>
          </a:solidFill>
          <a:ln w="12700">
            <a:solidFill>
              <a:srgbClr val="6A6A6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0896" y="365760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PUT /api/v1/leads/{id}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10896" y="3986784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lead status, score, pipeline value, or assigned owner inline.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663440" y="3602736"/>
            <a:ext cx="4297680" cy="822960"/>
          </a:xfrm>
          <a:prstGeom prst="rect">
            <a:avLst/>
          </a:prstGeom>
          <a:solidFill>
            <a:srgbClr val="5A5A5A"/>
          </a:solidFill>
          <a:ln w="12700">
            <a:solidFill>
              <a:srgbClr val="6A6A6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91456" y="365760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/api/v1/reports/revenue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91456" y="3986784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trend data for charting — monthly breakdown for the last 6 months.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4A4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SURVEY FINDINGS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1920240" cy="1463040"/>
          </a:xfrm>
          <a:prstGeom prst="rect">
            <a:avLst/>
          </a:prstGeom>
          <a:solidFill>
            <a:srgbClr val="5A5A5A"/>
          </a:solidFill>
          <a:ln w="12700">
            <a:solidFill>
              <a:srgbClr val="6A6A6A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868680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274320" y="1572768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Companies Surveyed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41448" y="804672"/>
            <a:ext cx="1920240" cy="1463040"/>
          </a:xfrm>
          <a:prstGeom prst="rect">
            <a:avLst/>
          </a:prstGeom>
          <a:solidFill>
            <a:srgbClr val="5A5A5A"/>
          </a:solidFill>
          <a:ln w="12700">
            <a:solidFill>
              <a:srgbClr val="6A6A6A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41448" y="868680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2441448" y="1572768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Higher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Satisfaction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08576" y="804672"/>
            <a:ext cx="1920240" cy="1463040"/>
          </a:xfrm>
          <a:prstGeom prst="rect">
            <a:avLst/>
          </a:prstGeom>
          <a:solidFill>
            <a:srgbClr val="5A5A5A"/>
          </a:solidFill>
          <a:ln w="12700">
            <a:solidFill>
              <a:srgbClr val="6A6A6A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08576" y="868680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608576" y="1572768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Streamlined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775704" y="804672"/>
            <a:ext cx="1920240" cy="1463040"/>
          </a:xfrm>
          <a:prstGeom prst="rect">
            <a:avLst/>
          </a:prstGeom>
          <a:solidFill>
            <a:srgbClr val="5A5A5A"/>
          </a:solidFill>
          <a:ln w="12700">
            <a:solidFill>
              <a:srgbClr val="6A6A6A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75704" y="868680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775704" y="1572768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 High Cost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Challenge</a:t>
            </a:r>
            <a:endParaRPr lang="en-US" sz="1100" dirty="0"/>
          </a:p>
        </p:txBody>
      </p:sp>
      <p:graphicFrame>
        <p:nvGraphicFramePr>
          <p:cNvPr id="16" name="Chart 0"/>
          <p:cNvGraphicFramePr/>
          <p:nvPr/>
        </p:nvGraphicFramePr>
        <p:xfrm>
          <a:off x="457200" y="2468880"/>
          <a:ext cx="8229600" cy="2057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4A4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804672"/>
            <a:ext cx="7863840" cy="3703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deployment — multi-tenant cloud hosting for SMEs with isolated data per organization.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chatbot integration — automated lead responses and qualification via conversational AI.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(React Native / Flutter) — on-the-go CRM access for sales teams in the field.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notifications — WebSockets / push alerts for lead updates and task deadlines.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ML-based customer behaviour prediction — intelligent lead scoring and revenue forecasting.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email campaigns &amp; follow-up sequences — drip marketing inside the CRM.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4A4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SCOPE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4069080" cy="3703320"/>
          </a:xfrm>
          <a:prstGeom prst="rect">
            <a:avLst/>
          </a:prstGeom>
          <a:solidFill>
            <a:srgbClr val="5A5A5A"/>
          </a:solidFill>
          <a:ln w="12700">
            <a:solidFill>
              <a:srgbClr val="6A6A6A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89611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3657600" cy="3063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CURIEM integrates CRM + project management into a single unified platform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ReactJS + Spring Boot architecture provides scalability and modern UX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with JWT ensures enterprise-grade security for all user roles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dashboards enable data-driven decision-making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task status via Spring @Scheduled eliminates manual overhead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of 50 IT firms — 85% saw improved client satisfaction with CRM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800600" y="804672"/>
            <a:ext cx="4069080" cy="3703320"/>
          </a:xfrm>
          <a:prstGeom prst="rect">
            <a:avLst/>
          </a:prstGeom>
          <a:solidFill>
            <a:srgbClr val="5A5A5A"/>
          </a:solidFill>
          <a:ln w="12700">
            <a:solidFill>
              <a:srgbClr val="6A6A6A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83480" y="89611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983480" y="1280160"/>
            <a:ext cx="3657600" cy="3063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deployment — multi-tenant cloud hosting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chatbot for automated lead responses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(React Native) for on-the-go access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notifications via WebSockets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ML-based behaviour prediction &amp; lead scoring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email campaigns &amp; follow-up sequences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3A3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365760" y="187452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CuriumCRM — Close more deals, faster.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200400" y="2423160"/>
            <a:ext cx="2743200" cy="274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2578608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309067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Contact: anshikaggarwalcs@gmail.com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3547872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Anshika Aggarwal (2204920100024) · Raj Kumar (2204920100118)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| KCC Institute of Technology &amp; Management, Greater Noida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Ms. Sarita Singh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</TotalTime>
  <Words>1220</Words>
  <Application>Microsoft Macintosh PowerPoint</Application>
  <PresentationFormat>On-screen Show (16:9)</PresentationFormat>
  <Paragraphs>185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CRM Web Application</dc:title>
  <dc:subject>PptxGenJS Presentation</dc:subject>
  <dc:creator>PptxGenJS</dc:creator>
  <cp:lastModifiedBy>Raj kumar</cp:lastModifiedBy>
  <cp:revision>4</cp:revision>
  <dcterms:created xsi:type="dcterms:W3CDTF">2026-04-24T19:02:25Z</dcterms:created>
  <dcterms:modified xsi:type="dcterms:W3CDTF">2026-05-05T05:52:12Z</dcterms:modified>
</cp:coreProperties>
</file>